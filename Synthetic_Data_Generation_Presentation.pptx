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Trained on Real Data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69.48</c:v>
                </c:pt>
                <c:pt idx="1">
                  <c:v>77.92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F-412C-BE61-B4F798E4F6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Trained on Synthetic Data</c:v>
                </c:pt>
              </c:strCache>
            </c:strRef>
          </c:tx>
          <c:spPr>
            <a:solidFill>
              <a:srgbClr val="E852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70.13</c:v>
                </c:pt>
                <c:pt idx="1">
                  <c:v>67.53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EF-412C-BE61-B4F798E4F6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60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4E02-D8AF-AD5A-C03B-07CAEF292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7399-EA63-4626-BB2A-E2558F503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F085E-E4FB-9D2D-0459-93FEADA3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B21A9-E976-0107-1054-59F389E8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7EE9-107D-BD04-7A2D-4DF2AF44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489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EE90-05E1-E386-1882-8638AAFC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F654-C24C-A65C-298F-D3ACD65AD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1B61E-9C5B-0FE0-CBF7-67B49B0B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5718F-BC5E-E2CB-2470-7B2BF7E4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B635-B00F-9FE7-E6E5-392F0052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362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D98B-E4CF-B80E-58DB-5AA3CEC8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60787-7E59-B92F-A9BE-9B95DA646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C4911-2A7B-17C3-7A02-0C7C9BD8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AB50-01FC-E3CE-D4E5-698BAE1C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11AB-8BD9-622D-AC90-5EDCDBC7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442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DA07-471F-8C1E-A5EC-CEA9FEE1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7BC1-FF06-3C67-64EA-C765D19F5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729AD-D75E-9D1E-8F66-48E3ECC52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6BF0A-07C3-093E-CBEE-730BD25E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96D39-4ECC-25F3-8952-B69D4989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1020A-DA98-F430-674F-35310D95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2668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BB2F-F6F3-09E5-F4DD-0DC4A18A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2BCE6-D868-4570-FBE2-18D3DE806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4C95D-7B27-B1B4-8351-1CF60EC44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A57AD-D4BE-BFC7-D08F-AAF1B2FB7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EC1B2-CF49-045B-8A10-D93A0EE55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6FDAB-77D0-6313-1631-7F91A4B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AC2C1-71A2-B290-B2A1-67F4A317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3BD48-9A71-7F41-20DD-911AD78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224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4EEA-74B7-D025-5329-2E0EC7BB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21E85-C3A4-6746-FE90-35731DA2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6BEAD-DBBE-89B5-138E-DEDB63C7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645E4-4B0A-D5EC-3DA2-2176ABE4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936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B8C5D-1FEF-106F-F779-6AAF76C5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47506-1AEF-990C-27FD-9897124B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1B67A-1B1E-CE93-C264-1368F35D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235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32F3-C13E-8511-B68E-BA830A36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E4E9A-D876-2196-F578-9A202AA1B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B6D4B-E6E5-FBF4-98E6-33405017D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61976-7CC5-F428-8210-2FAAAB5C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25853-8F82-B525-F168-81916C48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21C82-30A7-1BA3-D324-AC60C30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44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E9D9-E29F-B58E-3FDB-68AAE93B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AC9C1-2F5C-7C06-B162-873EEF49D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DA562-659B-ADA4-849D-FDE0ABD7E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7A25A-CBE3-2125-6D64-84D792C9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86E38-50E7-81B5-A495-A904B54E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C9D89-4C8C-67B8-F23C-BA1A18B7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97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1AFF-31D8-97FC-7D80-1CE30F97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A8D68-4C7D-B5FC-44A5-FE02A61AD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D32B8-1785-6D99-710B-DB172D40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9F97-F816-CCF7-9582-623D9ACB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F5075-46FC-84B4-1D43-1C388CCC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8023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E5FD7-0CAE-C232-F0E9-70C298EA1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83865-7309-C0E1-BEEE-3C864F4A8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C2378-4E05-68C6-2751-567AC9E7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44AE-1716-6E00-C0D7-A2523D82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F0F9-9E27-C59F-0E14-A10F979E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1205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53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D8EE7-D583-5DB8-28FC-3E1567FE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60B18-E457-B9C7-E0B7-572AFD1FF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BB375-FBB7-F316-BA33-B3F2D1AFE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FCC74-B993-34F3-FB06-8A75920B0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9E7D7-10F8-10FD-E155-7745B9F15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8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2">
                    <a:lumMod val="9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 Generation</a:t>
            </a:r>
            <a:endParaRPr lang="en-US" sz="40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4000" b="1" dirty="0">
                <a:solidFill>
                  <a:schemeClr val="bg2">
                    <a:lumMod val="9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Evaluation</a:t>
            </a:r>
            <a:endParaRPr lang="en-US" sz="4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 flipV="1">
            <a:off x="612648" y="1965958"/>
            <a:ext cx="4005072" cy="45721"/>
          </a:xfrm>
          <a:prstGeom prst="rect">
            <a:avLst/>
          </a:prstGeom>
          <a:solidFill>
            <a:srgbClr val="FFFF00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762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Using Machine Learning on the Pima Indians Diabetes Dataset</a:t>
            </a:r>
            <a:endParaRPr lang="en-US" sz="1600" dirty="0">
              <a:solidFill>
                <a:schemeClr val="accent2">
                  <a:lumMod val="40000"/>
                  <a:lumOff val="6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2648" y="2816352"/>
            <a:ext cx="6761988" cy="347472"/>
          </a:xfrm>
          <a:prstGeom prst="rect">
            <a:avLst/>
          </a:prstGeom>
          <a:solidFill>
            <a:srgbClr val="1C3E6E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28529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 for Artificial Intelligence and Machine Learning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" y="3763108"/>
            <a:ext cx="7315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Snigdha Singh  ·  PRN: 25070126169</a:t>
            </a:r>
            <a:endParaRPr lang="en-US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35424" y="3758536"/>
            <a:ext cx="7315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Shubhayu Bhattacharya  ·  PRN: 25070126168</a:t>
            </a:r>
            <a:endParaRPr lang="en-US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" y="4123944"/>
            <a:ext cx="7315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Shaury Tandon  ·  PRN: 25070126162</a:t>
            </a:r>
            <a:endParaRPr lang="en-US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43161" y="4146452"/>
            <a:ext cx="7315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Sohan Saha  ·  PRN: 25070126170</a:t>
            </a:r>
            <a:endParaRPr lang="en-US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" y="5084064"/>
            <a:ext cx="8942832" cy="59436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60B5A3B-6DF2-3BEF-4E99-A080BFC4B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857" y="76009"/>
            <a:ext cx="1140143" cy="1140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0972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</a:t>
            </a:r>
            <a:endParaRPr lang="en-US" sz="3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2880360"/>
            <a:ext cx="256032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STAIML Project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566160" y="457200"/>
            <a:ext cx="438912" cy="43891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51206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457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114800" y="7132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 &amp; objectives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969264"/>
            <a:ext cx="5303520" cy="18288"/>
          </a:xfrm>
          <a:prstGeom prst="rect">
            <a:avLst/>
          </a:prstGeom>
          <a:solidFill>
            <a:schemeClr val="tx1"/>
          </a:solidFill>
          <a:ln w="3175">
            <a:noFill/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170432"/>
            <a:ext cx="438912" cy="438912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225296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1704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14800" y="14264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papers reviewed (2024–2025)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1682496"/>
            <a:ext cx="5303520" cy="18288"/>
          </a:xfrm>
          <a:prstGeom prst="rect">
            <a:avLst/>
          </a:prstGeom>
          <a:solidFill>
            <a:schemeClr val="tx1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883664"/>
            <a:ext cx="438912" cy="43891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938528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18836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14800" y="21396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ML pipeline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2395728"/>
            <a:ext cx="5303520" cy="18288"/>
          </a:xfrm>
          <a:prstGeom prst="rect">
            <a:avLst/>
          </a:prstGeom>
          <a:solidFill>
            <a:schemeClr val="tx1"/>
          </a:solidFill>
          <a:ln w="3175">
            <a:noFill/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596896"/>
            <a:ext cx="438912" cy="438912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65176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25968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Visualization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114800" y="28529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&amp; charts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3108960"/>
            <a:ext cx="5303520" cy="18288"/>
          </a:xfrm>
          <a:prstGeom prst="rect">
            <a:avLst/>
          </a:prstGeom>
          <a:solidFill>
            <a:schemeClr val="tx1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3310128"/>
            <a:ext cx="438912" cy="43891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364992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33101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114800" y="35661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66160" y="3822192"/>
            <a:ext cx="5303520" cy="18288"/>
          </a:xfrm>
          <a:prstGeom prst="rect">
            <a:avLst/>
          </a:prstGeom>
          <a:solidFill>
            <a:schemeClr val="tx1"/>
          </a:solidFill>
          <a:ln w="3175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4023360"/>
            <a:ext cx="438912" cy="438912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407822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0" y="40233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114800" y="42793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citations &amp; sources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8523A"/>
          </a:solidFill>
          <a:ln w="1270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3291840" cy="754380"/>
          </a:xfrm>
          <a:prstGeom prst="rect">
            <a:avLst/>
          </a:prstGeom>
          <a:solidFill>
            <a:srgbClr val="0B1F3A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01168" y="2839212"/>
            <a:ext cx="2560320" cy="64008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56432" y="256032"/>
            <a:ext cx="91440" cy="804672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256032"/>
            <a:ext cx="5394960" cy="804672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200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03320" y="60350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is privacy-sensitive and hard to share legally, blocking AI research.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188720"/>
            <a:ext cx="91440" cy="804672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188720"/>
            <a:ext cx="5394960" cy="804672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2527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153619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artificial patient records that preserve statistical patterns without exposing real individuals.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56432" y="2121408"/>
            <a:ext cx="91440" cy="804672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121408"/>
            <a:ext cx="5394960" cy="804672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8541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246888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 — 768 female patients, 8 clinical features, binary diabetes outcome.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56432" y="3054096"/>
            <a:ext cx="91440" cy="804672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7872" y="3054096"/>
            <a:ext cx="5394960" cy="804672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1181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Question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3401568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classifier train entirely on synthetic data match one trained on real patient records?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56432" y="3986784"/>
            <a:ext cx="91440" cy="804672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3986784"/>
            <a:ext cx="5394960" cy="804672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0507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03320" y="433425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scikit-learn · matplotlib · seaborn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Papers Reviewed  ·  2024–2025</a:t>
            </a:r>
            <a:endParaRPr lang="en-US" sz="1100" dirty="0">
              <a:solidFill>
                <a:srgbClr val="FFFF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297680" cy="173736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297680" cy="73152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" cy="2743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·  MDPI Electronics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46304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Systematic Review of SDG Using Generative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77 studies. GANs &amp; LLMs most effective; privacy leakage remains a key challenge.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97680" cy="173736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97680" cy="73152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97280"/>
            <a:ext cx="420624" cy="274320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5780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·  arXiv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Exploration of SDG: A Survey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 SDG models catalogued. GANs dominate for structured data; no universal evaluation metric.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2926080"/>
            <a:ext cx="4297680" cy="173736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926080"/>
            <a:ext cx="4297680" cy="73152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17520"/>
            <a:ext cx="420624" cy="2743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1752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·  arXiv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38328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for SDG: Methods &amp; Challenges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93192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match real data in low-resource settings; hallucination in tabular data is a critical risk.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297680" cy="173736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926080"/>
            <a:ext cx="4297680" cy="73152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17520"/>
            <a:ext cx="420624" cy="274320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1752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780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3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 ·  arXiv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38328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for Synthetic Data: A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variants achieve highest fidelity. Privacy–utility tradeoff is the central unsolved problem.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The 8-Step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987552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87552"/>
            <a:ext cx="475488" cy="93268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987552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Acquisition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3898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read_csv(); inspect column types &amp; zeroes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87552"/>
            <a:ext cx="475488" cy="932688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87552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0368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Data Handling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30368" y="13898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0s with NaN in 5 columns; mean imputation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4592" y="2048256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2048256"/>
            <a:ext cx="475488" cy="93268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048256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24505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boxplots; Insulin shows extreme outliers (&gt;600)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048256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048256"/>
            <a:ext cx="475488" cy="932688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48256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3036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0368" y="24505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Histograms; most features right-skewed; Age 21–40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4592" y="3108960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3108960"/>
            <a:ext cx="475488" cy="93268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3108960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heatmap; Glucose–Outcome r≈0.47; scatter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108960"/>
            <a:ext cx="475488" cy="932688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108960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30368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Encoding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30368" y="35112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mapped to text then sklearn LabelEncoder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4592" y="4169664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4169664"/>
            <a:ext cx="475488" cy="93268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4169664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 Gen.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" y="45720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sampling (μ,σ) per class; 500 rows; clipped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169664"/>
            <a:ext cx="4315968" cy="93268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169664"/>
            <a:ext cx="475488" cy="932688"/>
          </a:xfrm>
          <a:prstGeom prst="rect">
            <a:avLst/>
          </a:prstGeom>
          <a:solidFill>
            <a:srgbClr val="1C3E6E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169664"/>
            <a:ext cx="4754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30368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Training &amp; Eval.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30368" y="45720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&amp; RF trained on real vs synthetic; same test set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196596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" y="1508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987552"/>
            <a:ext cx="1965960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77440" y="1508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87552"/>
            <a:ext cx="196596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87552"/>
            <a:ext cx="1965960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938528"/>
            <a:ext cx="205740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9933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1938528"/>
            <a:ext cx="4434840" cy="320040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1993392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938528"/>
            <a:ext cx="2148840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99339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Range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2258568"/>
            <a:ext cx="2057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2313432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Pregnancies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240280" y="2258568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5144" y="231343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the patient has been pregnant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675120" y="2258568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2313432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0–17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82880" y="2596896"/>
            <a:ext cx="205740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651760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Glucose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2240280" y="2596896"/>
            <a:ext cx="4434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95144" y="2651760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glucose tolerance test (mg/dL)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675120" y="2596896"/>
            <a:ext cx="2148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2651760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70–140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182880" y="2935224"/>
            <a:ext cx="2057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299008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BloodPressure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240280" y="2935224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2990088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blood pressure (mm Hg)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675120" y="2935224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2990088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182880" y="3273552"/>
            <a:ext cx="205740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3328416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SkinThickness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2240280" y="3273552"/>
            <a:ext cx="4434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95144" y="3328416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Tricep skinfold — proxy for body fat (mm)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675120" y="3273552"/>
            <a:ext cx="2148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9984" y="3328416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182880" y="3611880"/>
            <a:ext cx="2057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3666744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Insulin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2240280" y="3611880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95144" y="3666744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serum insulin (µU/ml)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675120" y="3611880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9984" y="3666744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16–166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182880" y="3950208"/>
            <a:ext cx="205740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" y="4005072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2240280" y="3950208"/>
            <a:ext cx="4434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95144" y="400507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 (kg/m²)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6675120" y="3950208"/>
            <a:ext cx="2148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9984" y="4005072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18.5–24.9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182880" y="4288536"/>
            <a:ext cx="2057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" y="4343400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DiabetesPedigree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2240280" y="4288536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95144" y="4343400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diabetes risk score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6675120" y="4288536"/>
            <a:ext cx="2148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9984" y="4343400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0.08–2.42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182880" y="4626864"/>
            <a:ext cx="205740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" y="468172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2240280" y="4626864"/>
            <a:ext cx="4434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95144" y="4681728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(years)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6675120" y="4626864"/>
            <a:ext cx="2148840" cy="329184"/>
          </a:xfrm>
          <a:prstGeom prst="rect">
            <a:avLst/>
          </a:prstGeom>
          <a:solidFill>
            <a:srgbClr val="FEF7F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9984" y="4681728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21–81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Visualizations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60120"/>
            <a:ext cx="4315968" cy="64008"/>
          </a:xfrm>
          <a:prstGeom prst="rect">
            <a:avLst/>
          </a:prstGeom>
          <a:solidFill>
            <a:srgbClr val="0B1F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Detection (Boxplots)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has extreme outliers (&gt;600). DiabetesPedigreeFunction also clusters high. Other features are well-behaved.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315968" cy="6400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698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 (Histograms)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38988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are right-skewed. Glucose closest to normal distribution. Age concentrated at 21–40.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237744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" y="2377440"/>
            <a:ext cx="4315968" cy="64008"/>
          </a:xfrm>
          <a:prstGeom prst="rect">
            <a:avLst/>
          </a:prstGeom>
          <a:solidFill>
            <a:srgbClr val="0B1F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871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80720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has highest correlation with Outcome at r≈0.47. BMI and Age show moderate correlations (~0.29 and 0.24).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77440"/>
            <a:ext cx="4315968" cy="6400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4871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Glucose vs BMI Scatter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80720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(red) shift to upper-right. Higher glucose + higher BMI → higher diabetes risk. Classes overlap significantly.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379476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3794760"/>
            <a:ext cx="4315968" cy="64008"/>
          </a:xfrm>
          <a:prstGeom prst="rect">
            <a:avLst/>
          </a:prstGeom>
          <a:solidFill>
            <a:srgbClr val="0B1F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044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vs Synthetic Distributions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22452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overlap for Glucose &amp; BloodPressure. Pregnancies matches well. SkinThickness shows a minor peak shift.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315968" cy="123444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94760"/>
            <a:ext cx="4315968" cy="64008"/>
          </a:xfrm>
          <a:prstGeom prst="rect">
            <a:avLst/>
          </a:prstGeom>
          <a:solidFill>
            <a:srgbClr val="E8523A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9044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— Random Forest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4224528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identifying non-diabetic patients — expected with class imbalance (65% non-diabetic in dataset).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Accuracy: Real vs Synthetic Training Data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960120"/>
            <a:ext cx="324612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1069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79008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69.48%   </a:t>
            </a:r>
            <a:r>
              <a:rPr lang="en-US" sz="12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70.13%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79008" y="178308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— linear patterns transferred cleanly from synthetic to real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28803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880360"/>
            <a:ext cx="324612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9008" y="2990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79008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77.92%   </a:t>
            </a:r>
            <a:r>
              <a:rPr lang="en-US" sz="12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67.53%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79008" y="37033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pt gap — RF captures fine-grained detail that Gaussian sampling smooths out.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4663440"/>
            <a:ext cx="32461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46634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beats random chance for both models!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9601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932688"/>
            <a:ext cx="7498080" cy="960120"/>
          </a:xfrm>
          <a:prstGeom prst="rect">
            <a:avLst/>
          </a:prstGeom>
          <a:solidFill>
            <a:srgbClr val="142D50"/>
          </a:solidFill>
          <a:ln w="12700">
            <a:solidFill>
              <a:srgbClr val="142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33502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synthetic data matched real-data performance. Random Forest retained a working classifier at 67.53% accuracy.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06984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960120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984248"/>
            <a:ext cx="7498080" cy="960120"/>
          </a:xfrm>
          <a:prstGeom prst="rect">
            <a:avLst/>
          </a:prstGeom>
          <a:solidFill>
            <a:srgbClr val="142D50"/>
          </a:solidFill>
          <a:ln w="12700">
            <a:solidFill>
              <a:srgbClr val="142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075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D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Insight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38658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Gaussian sampling — no deep learning, no specialised libraries — produced statistically valid synthetic healthcare data.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1214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8595360" cy="9601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035808"/>
            <a:ext cx="7498080" cy="960120"/>
          </a:xfrm>
          <a:prstGeom prst="rect">
            <a:avLst/>
          </a:prstGeom>
          <a:solidFill>
            <a:srgbClr val="142D50"/>
          </a:solidFill>
          <a:ln w="12700">
            <a:solidFill>
              <a:srgbClr val="142D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Implication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381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can share statistical models instead of real patient records, enabling privacy-preserving AI research at scale.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317296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4087368"/>
            <a:ext cx="8595360" cy="960120"/>
          </a:xfrm>
          <a:prstGeom prst="rect">
            <a:avLst/>
          </a:prstGeom>
          <a:solidFill>
            <a:srgbClr val="1C3E6E"/>
          </a:solidFill>
          <a:ln w="12700">
            <a:solidFill>
              <a:srgbClr val="1C3E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087368"/>
            <a:ext cx="7498080" cy="960120"/>
          </a:xfrm>
          <a:prstGeom prst="rect">
            <a:avLst/>
          </a:prstGeom>
          <a:solidFill>
            <a:srgbClr val="142D50"/>
          </a:solidFill>
          <a:ln w="12700">
            <a:solidFill>
              <a:srgbClr val="142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4178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D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48970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CTGAN for tabular-aware synthesis  ·  Add KL divergence &amp; Wasserstein distance metrics  ·  Test additional model architectures.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4320" y="422452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47472" cy="5120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005840"/>
            <a:ext cx="8229600" cy="69494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78992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[1]  N. Baowaly et al., "A Systematic Review of SDG Techniques Using Generative AI," Electronics, vol. 13, no. 17, p. 3509, MDPI, Sep. 2024.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347472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1801368"/>
            <a:ext cx="8229600" cy="69494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74520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[2]  A. Bauer et al., "Comprehensive Exploration of Synthetic Data Generation: A Survey," arXiv:2401.02524, Feb. 2024.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347472" cy="5120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70048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2596896"/>
            <a:ext cx="8229600" cy="69494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70048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[3]  X. Guo &amp; Y. Chen, "Generative AI for Synthetic Data Generation: Methods, Challenges and the Future," arXiv:2403.04190, Mar. 2024.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65576"/>
            <a:ext cx="347472" cy="512064"/>
          </a:xfrm>
          <a:prstGeom prst="rect">
            <a:avLst/>
          </a:prstGeom>
          <a:solidFill>
            <a:srgbClr val="0B1F3A"/>
          </a:solidFill>
          <a:ln w="3175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65576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3392424"/>
            <a:ext cx="8229600" cy="69494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65576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[4]  Y. Lu et al., "Machine Learning for Synthetic Data Generation: A Review," arXiv:2302.04062, updated Apr. 2025.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61104"/>
            <a:ext cx="347472" cy="512064"/>
          </a:xfrm>
          <a:prstGeom prst="rect">
            <a:avLst/>
          </a:prstGeom>
          <a:solidFill>
            <a:srgbClr val="E8523A"/>
          </a:solidFill>
          <a:ln w="3175">
            <a:noFill/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6110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4187952"/>
            <a:ext cx="8229600" cy="69494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61104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[5]  J. W. Smith et al., "Using the ADAP Learning Algorithm to Forecast Diabetes Mellitus," Proc. Symp. Comput. Appl. Med. Care, 1988, pp. 261–265.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4690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Pune  ·  STAIML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6400" dirty="0"/>
          </a:p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320040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2080" y="548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500" dirty="0">
                <a:solidFill>
                  <a:srgbClr val="FFFFFF"/>
                </a:solidFill>
                <a:latin typeface="Segoe UI Variable Small Semibol" pitchFamily="2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dirty="0">
              <a:latin typeface="Segoe UI Variable Small Semibol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0" y="1051560"/>
            <a:ext cx="29260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Snigdha Singh</a:t>
            </a:r>
            <a:endParaRPr lang="en-US" sz="14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0" y="1755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Shubhayu Bhattacharya</a:t>
            </a:r>
            <a:endParaRPr lang="en-US" sz="14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0" y="2231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Shaury Tandon</a:t>
            </a:r>
            <a:endParaRPr lang="en-US" sz="1400" b="1" dirty="0">
              <a:latin typeface="Candara" panose="020E05020303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Sohan Saha</a:t>
            </a:r>
            <a:endParaRPr lang="en-US" sz="14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3337560"/>
            <a:ext cx="29260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767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Priyanka Deshmukh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SIT Pune 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1019</Words>
  <Application>Microsoft Office PowerPoint</Application>
  <PresentationFormat>On-screen Show (16:9)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Bell MT</vt:lpstr>
      <vt:lpstr>Calibri</vt:lpstr>
      <vt:lpstr>Candara</vt:lpstr>
      <vt:lpstr>Segoe UI Variable Small Semibol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Data Generation and Evaluation Using ML</dc:title>
  <dc:subject>PptxGenJS Presentation</dc:subject>
  <dc:creator>PptxGenJS</dc:creator>
  <cp:lastModifiedBy>Sohan Saha</cp:lastModifiedBy>
  <cp:revision>17</cp:revision>
  <dcterms:created xsi:type="dcterms:W3CDTF">2026-04-20T19:29:48Z</dcterms:created>
  <dcterms:modified xsi:type="dcterms:W3CDTF">2026-04-20T20:21:42Z</dcterms:modified>
</cp:coreProperties>
</file>